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8" r:id="rId2"/>
    <p:sldId id="300" r:id="rId3"/>
    <p:sldId id="299" r:id="rId4"/>
    <p:sldId id="343" r:id="rId5"/>
    <p:sldId id="301" r:id="rId6"/>
    <p:sldId id="302" r:id="rId7"/>
    <p:sldId id="344" r:id="rId8"/>
    <p:sldId id="34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4F2"/>
    <a:srgbClr val="01CCFF"/>
    <a:srgbClr val="0DC0FF"/>
    <a:srgbClr val="05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57" autoAdjust="0"/>
    <p:restoredTop sz="94660"/>
  </p:normalViewPr>
  <p:slideViewPr>
    <p:cSldViewPr snapToGrid="0">
      <p:cViewPr varScale="1">
        <p:scale>
          <a:sx n="82" d="100"/>
          <a:sy n="82" d="100"/>
        </p:scale>
        <p:origin x="4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A9D0C-4DBE-43CA-82F2-3B35ED90284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DD0690-8DBA-48A1-84EF-93D4A0F9EDE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119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7B22E-3A20-4C65-BF9F-7AEA22C512E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986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3F61-8374-7871-1944-05412796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9E711-2230-4398-EFA6-57DA8FE5E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7F251-7CE3-F281-6CE0-D34619D95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90A73-E16C-12B1-0504-DC0B79466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7B22E-3A20-4C65-BF9F-7AEA22C512E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42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9D4D9-DA12-596A-1C93-A3D041C8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C2D60-B0B2-D814-0987-D325B2520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79101-FEB4-C6CE-37C4-D0573DBA5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DBF5B-0FC7-F60C-CEDB-6CE167163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B7B22E-3A20-4C65-BF9F-7AEA22C512E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274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C5B81-6D3C-324B-1D70-12F6AA44804C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9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9979AA6-E3C5-CBDB-656B-BBF3673289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C9C2A-0E96-B3DD-E72A-B658606A10BB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89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E1513E-D9F7-4665-D50A-C49BD062338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1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D75D2FB5-A6FD-7717-B985-1C45B26777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A7E8DB-A4AC-8027-9A53-75C66510D5D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402038" y="3509963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629CA6-0662-2D71-1B21-AE49055667F6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4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E1C1C02C-18E1-780A-8763-41AE0F291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443" y="1130179"/>
            <a:ext cx="9379113" cy="4597642"/>
          </a:xfrm>
          <a:prstGeom prst="rect">
            <a:avLst/>
          </a:prstGeom>
          <a:effectLst>
            <a:glow>
              <a:schemeClr val="tx1"/>
            </a:glow>
            <a:outerShdw blurRad="50800" dist="50800" dir="5400000" algn="ctr" rotWithShape="0">
              <a:srgbClr val="000000">
                <a:alpha val="0"/>
              </a:srgbClr>
            </a:outerShdw>
            <a:reflection endPos="0" dist="508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4400" y="2500833"/>
            <a:ext cx="4347501" cy="565735"/>
          </a:xfrm>
        </p:spPr>
        <p:txBody>
          <a:bodyPr anchor="b">
            <a:normAutofit/>
          </a:bodyPr>
          <a:lstStyle>
            <a:lvl1pPr algn="ctr">
              <a:defRPr sz="3000" spc="150" baseline="0">
                <a:solidFill>
                  <a:schemeClr val="bg2">
                    <a:lumMod val="50000"/>
                  </a:schemeClr>
                </a:solidFill>
                <a:latin typeface="Nexa-Bold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29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44F0A-52D2-552F-0A18-5EBE0472DC5E}"/>
              </a:ext>
            </a:extLst>
          </p:cNvPr>
          <p:cNvSpPr txBox="1"/>
          <p:nvPr userDrawn="1"/>
        </p:nvSpPr>
        <p:spPr>
          <a:xfrm>
            <a:off x="8340436" y="5946135"/>
            <a:ext cx="3851564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111F31-A7FB-AB43-EE29-2BCF7DB70B0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059138" y="3066568"/>
            <a:ext cx="543868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0448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95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imple Logo Gre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27661D-AEBD-17AC-4B6C-4A3EDB784F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7A42C6AB-54B1-13FD-E709-ED01A315E46D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chemeClr val="accent3">
                <a:alpha val="3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53C0-197E-4E39-3DF4-1922645929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5992" y="566709"/>
            <a:ext cx="2528178" cy="78373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084F6E-C402-E001-B8A3-477D91DB62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4"/>
            <a:ext cx="1655762" cy="16557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50" baseline="0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66F76-74B9-E616-003F-9F120677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5831-62F6-248F-2536-5365792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824EA-FB57-AA42-CC47-10702187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33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ogo White/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493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35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7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2E9BD9-31F1-4DD0-ADA8-BBC83DFA5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96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 Logo White/Blac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8331200" y="337402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F30BF6-4AB5-5793-16E3-01544A52D6F8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62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Whi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5585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1084A2C-5D21-7A98-F6D9-A5AC70C57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5159912" y="1081454"/>
            <a:ext cx="7032088" cy="57765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0CD09993-40FE-D87D-E713-03530C1AD52C}"/>
              </a:ext>
            </a:extLst>
          </p:cNvPr>
          <p:cNvSpPr/>
          <p:nvPr userDrawn="1"/>
        </p:nvSpPr>
        <p:spPr>
          <a:xfrm rot="16200000">
            <a:off x="5175955" y="1072085"/>
            <a:ext cx="7920404" cy="7920404"/>
          </a:xfrm>
          <a:prstGeom prst="arc">
            <a:avLst>
              <a:gd name="adj1" fmla="val 14553369"/>
              <a:gd name="adj2" fmla="val 3028724"/>
            </a:avLst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066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/Blac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831A6E-5C61-78AF-5D8D-D13531A7B8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23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chemeClr val="bg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chemeClr val="bg1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chemeClr val="bg1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2815400-80B1-A44B-1B13-B0799E1E5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741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ack/Whi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11E6D7D-FA47-43C4-18B5-A38BE3172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9" b="28208"/>
          <a:stretch/>
        </p:blipFill>
        <p:spPr>
          <a:xfrm>
            <a:off x="5152292" y="1081454"/>
            <a:ext cx="7039708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31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00CF986-FD5A-5975-2EC8-F0EACE7041A6}"/>
              </a:ext>
            </a:extLst>
          </p:cNvPr>
          <p:cNvGrpSpPr/>
          <p:nvPr userDrawn="1"/>
        </p:nvGrpSpPr>
        <p:grpSpPr>
          <a:xfrm>
            <a:off x="5159912" y="1072085"/>
            <a:ext cx="7936447" cy="7920404"/>
            <a:chOff x="5159912" y="1072085"/>
            <a:chExt cx="7936447" cy="79204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369ACA-2F12-CB63-910E-229CF3B4A65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5159912" y="1081454"/>
              <a:ext cx="7032088" cy="5776546"/>
            </a:xfrm>
            <a:prstGeom prst="rect">
              <a:avLst/>
            </a:prstGeom>
          </p:spPr>
        </p:pic>
        <p:sp>
          <p:nvSpPr>
            <p:cNvPr id="6" name="Arc 5">
              <a:extLst>
                <a:ext uri="{FF2B5EF4-FFF2-40B4-BE49-F238E27FC236}">
                  <a16:creationId xmlns:a16="http://schemas.microsoft.com/office/drawing/2014/main" id="{AA18C82D-3997-C9C4-9292-DDEE574A48F2}"/>
                </a:ext>
              </a:extLst>
            </p:cNvPr>
            <p:cNvSpPr/>
            <p:nvPr userDrawn="1"/>
          </p:nvSpPr>
          <p:spPr>
            <a:xfrm rot="16200000">
              <a:off x="5175955" y="1072085"/>
              <a:ext cx="7920404" cy="7920404"/>
            </a:xfrm>
            <a:prstGeom prst="arc">
              <a:avLst>
                <a:gd name="adj1" fmla="val 14553369"/>
                <a:gd name="adj2" fmla="val 3028724"/>
              </a:avLst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96205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/Grey Small Log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F0FC399-1E99-64E5-3C59-25E3AD9900B6}"/>
              </a:ext>
            </a:extLst>
          </p:cNvPr>
          <p:cNvSpPr txBox="1"/>
          <p:nvPr userDrawn="1"/>
        </p:nvSpPr>
        <p:spPr>
          <a:xfrm>
            <a:off x="304702" y="6234109"/>
            <a:ext cx="3860800" cy="406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000" b="1" i="1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{Learn, Create, Innovate};</a:t>
            </a:r>
            <a:endParaRPr lang="en-US" sz="2000" b="1" i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CCB3D-C221-6ABC-3252-89E6D68BC5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206" y="2767280"/>
            <a:ext cx="3657793" cy="1323439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000" b="1" spc="200" baseline="0">
                <a:solidFill>
                  <a:srgbClr val="00B0F0"/>
                </a:solidFill>
                <a:latin typeface="Nexa Bold" panose="02000000000000000000" pitchFamily="50" charset="0"/>
              </a:defRPr>
            </a:lvl1pPr>
          </a:lstStyle>
          <a:p>
            <a:r>
              <a:rPr lang="en-US" dirty="0"/>
              <a:t>Divider Slide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009A-C110-F658-0A21-7D89E80E2B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06" y="4590215"/>
            <a:ext cx="3657793" cy="884144"/>
          </a:xfrm>
        </p:spPr>
        <p:txBody>
          <a:bodyPr>
            <a:normAutofit/>
          </a:bodyPr>
          <a:lstStyle>
            <a:lvl1pPr marL="0" indent="0" algn="l">
              <a:buNone/>
              <a:defRPr sz="2400" b="1" i="1">
                <a:solidFill>
                  <a:srgbClr val="00B0F0"/>
                </a:solidFill>
                <a:latin typeface="Nexa Bold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Subtopic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69ACA-2F12-CB63-910E-229CF3B4A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79" b="28024"/>
          <a:stretch/>
        </p:blipFill>
        <p:spPr>
          <a:xfrm>
            <a:off x="7209216" y="2764866"/>
            <a:ext cx="4982784" cy="4093134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AA18C82D-3997-C9C4-9292-DDEE574A48F2}"/>
              </a:ext>
            </a:extLst>
          </p:cNvPr>
          <p:cNvSpPr/>
          <p:nvPr userDrawn="1"/>
        </p:nvSpPr>
        <p:spPr>
          <a:xfrm rot="16200000">
            <a:off x="7220584" y="2758227"/>
            <a:ext cx="5612225" cy="5612225"/>
          </a:xfrm>
          <a:prstGeom prst="arc">
            <a:avLst>
              <a:gd name="adj1" fmla="val 14553369"/>
              <a:gd name="adj2" fmla="val 3028724"/>
            </a:avLst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978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7854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4BDB03-EE9E-E849-B5B7-7F755201AD96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3C7453-7434-0F61-820C-861F0B51D33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F965FC7E-67B7-8CA6-E111-C3EE58075659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91208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246F-D609-1C10-0EB3-9CF35C14B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542D5-98E3-7038-3BFF-A5325C1D2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396"/>
            <a:ext cx="4686300" cy="435556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CCB5-FC8A-483F-915E-2A1D0738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F7E3-490D-2C48-1565-E6F221044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20CC-6F22-09A2-7E9D-DA486A4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D1BAC43-B2E1-6547-0894-0809FAA633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A586EE-FFC8-C208-98D9-142C9112AF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E1595E-1FBB-5E6B-0D28-2FE5224DF462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E48A463-ECCE-6B5E-9715-FC07CD45CDB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524500" y="1821396"/>
            <a:ext cx="6172200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44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179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21C370-4329-74F8-53D7-0F2867389B97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7C3A75D-A481-EE0C-754D-506C7D4C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B799A-35E1-5885-20B2-35BB5A3F278D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6DD9644-D426-35AF-FB09-853CF8CECC0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6F475831-7E53-2D67-970D-48331E632951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20474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0418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ide Titl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F8-BA05-625A-5CFF-F73BCF9EB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6638" y="1240628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3E5A6-FC4B-EB5C-90C8-333336869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157" y="1240627"/>
            <a:ext cx="4202927" cy="4966497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663AB-0CE7-8E34-6623-AABCE02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DC64-110A-8540-9118-86881BDD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87476-257F-CF5F-4A7A-1F3D7114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B996CC59-0A80-78A3-5AAD-4BFC5DB4BE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847D22-0D7C-891C-2955-0D65480A5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8B5B9-4860-7149-0E8A-82EEB1C88E0A}"/>
              </a:ext>
            </a:extLst>
          </p:cNvPr>
          <p:cNvCxnSpPr>
            <a:cxnSpLocks/>
          </p:cNvCxnSpPr>
          <p:nvPr userDrawn="1"/>
        </p:nvCxnSpPr>
        <p:spPr>
          <a:xfrm>
            <a:off x="2247324" y="1113025"/>
            <a:ext cx="0" cy="49448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DFC2CCFA-FF5F-3C03-B961-E11526B1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844288" y="2933491"/>
            <a:ext cx="4966498" cy="1325563"/>
          </a:xfrm>
        </p:spPr>
        <p:txBody>
          <a:bodyPr/>
          <a:lstStyle>
            <a:lvl1pPr algn="ctr"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C2020-6297-BAE9-FFAD-EAD757C9C03F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3EBFA66-BB0C-45B3-9E05-EA476847EED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23DEF0E3-00E5-BFD5-08D5-2E5E65294C13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44011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145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A924F-E77C-8EC8-404A-9AF7FA3B8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6FDE-DDDF-18EE-E2A6-2995032D3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ADA1C-ED2D-732E-1A7A-4215CFFF4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>
                    <a:lumMod val="50000"/>
                  </a:schemeClr>
                </a:solidFill>
                <a:latin typeface="Nexa Bold" panose="020000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566DA1-ECAC-2895-C269-5C781DF2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7C43-BD96-D113-E7AD-D7E533FD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D7B6F-4ABE-0C37-896E-BF937C6DF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FEB5C-8DA8-0CFC-3832-14733F3A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0C703C5-3462-2237-D5D6-DDA7E0988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4A1556-D8AF-CBF0-C594-8297CE75CA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2958F2-B07A-BB18-4654-A7B6CD008C1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D5EBC7E-DBFB-BBCD-1B52-A4CF4204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05ED7F-C3CB-F1AB-0D13-40D64480E1EB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02B66CE-628F-83AA-6C65-C9CFDA2A24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175E3FC-6420-950D-4C4B-59ED294A8095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585520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6253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03C37-5C37-2063-819B-329CAD4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AAEE-96EB-9E9E-BDF2-6A6C0D037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BE1CF-5E11-CF13-4A01-B0F9248E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109EB06-7C76-7254-6295-E04BAFF33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C597F-3E1D-F7FE-C64A-4CE204FD97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D9BE7-455B-6B8A-D812-806831664E6D}"/>
              </a:ext>
            </a:extLst>
          </p:cNvPr>
          <p:cNvCxnSpPr>
            <a:cxnSpLocks/>
          </p:cNvCxnSpPr>
          <p:nvPr userDrawn="1"/>
        </p:nvCxnSpPr>
        <p:spPr>
          <a:xfrm flipH="1">
            <a:off x="1582194" y="1262685"/>
            <a:ext cx="751368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A076A08-4A72-105F-5348-DE95D0525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381" y="120739"/>
            <a:ext cx="8160426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92B77D-D732-E7D4-A6B1-0A966E6BF488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2C5448-A851-B643-5EAD-72DA0FDD41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D11A7CE8-AD7B-8E77-CF09-1609492A8F9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633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672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308791A-1617-5FAE-52DC-B4FCE0CD3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0" y="136525"/>
            <a:ext cx="1325563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93F7C-F4FA-76C8-EA05-1F84426B2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062EC69-293D-B068-6694-395BB9B235B7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9BD460-7D72-5C8C-9608-81656E56D4E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603E80E-EE02-763E-A618-4043A879275E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78112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8516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576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A3A601-AD69-BD90-F09E-80EF172EF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57F8D229-0EB4-A05E-9EAE-A42E73F9F4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8D10C-C2AC-E9A3-0317-086591D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6501"/>
            <a:ext cx="3932237" cy="850898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2C8D8-EF13-9297-5883-FDD5DAEC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206501"/>
            <a:ext cx="6172200" cy="4654550"/>
          </a:xfrm>
        </p:spPr>
        <p:txBody>
          <a:bodyPr/>
          <a:lstStyle>
            <a:lvl1pPr>
              <a:defRPr sz="3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1pPr>
            <a:lvl2pPr>
              <a:defRPr sz="28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8177A-3450-A672-3524-7CA2D51D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F38A2-818B-B1B4-9E19-F1AAAAEB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BB7C3-13B6-EFC7-D954-A082C1A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6874-56F0-02BD-3A56-CDDF72E2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1DAA9-7159-FCB3-921B-0B55F1EBACE0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C984A1-6593-853A-9B97-65F3D4B10071}"/>
              </a:ext>
            </a:extLst>
          </p:cNvPr>
          <p:cNvGrpSpPr/>
          <p:nvPr userDrawn="1"/>
        </p:nvGrpSpPr>
        <p:grpSpPr>
          <a:xfrm>
            <a:off x="7209216" y="2758227"/>
            <a:ext cx="5623593" cy="5612225"/>
            <a:chOff x="7209216" y="2758227"/>
            <a:chExt cx="5623593" cy="561222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8B8DA1D-5808-60BA-D1A1-B8EECC1B70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grayscl/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379" b="28024"/>
            <a:stretch/>
          </p:blipFill>
          <p:spPr>
            <a:xfrm>
              <a:off x="7209216" y="2764866"/>
              <a:ext cx="4982784" cy="4093134"/>
            </a:xfrm>
            <a:prstGeom prst="rect">
              <a:avLst/>
            </a:prstGeom>
          </p:spPr>
        </p:pic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B67F314-AC9F-2A3B-3561-2F1141B54268}"/>
                </a:ext>
              </a:extLst>
            </p:cNvPr>
            <p:cNvSpPr/>
            <p:nvPr userDrawn="1"/>
          </p:nvSpPr>
          <p:spPr>
            <a:xfrm rot="16200000">
              <a:off x="7220584" y="2758227"/>
              <a:ext cx="5612225" cy="5612225"/>
            </a:xfrm>
            <a:prstGeom prst="arc">
              <a:avLst>
                <a:gd name="adj1" fmla="val 14553369"/>
                <a:gd name="adj2" fmla="val 3028724"/>
              </a:avLst>
            </a:prstGeom>
            <a:ln>
              <a:solidFill>
                <a:schemeClr val="accent3">
                  <a:alpha val="12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62837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DF6C-F99F-1AFA-98D0-D46A9AD3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07476"/>
            <a:ext cx="3932237" cy="849923"/>
          </a:xfrm>
        </p:spPr>
        <p:txBody>
          <a:bodyPr anchor="b"/>
          <a:lstStyle>
            <a:lvl1pPr>
              <a:defRPr sz="3200">
                <a:solidFill>
                  <a:srgbClr val="00B0F0"/>
                </a:solidFill>
                <a:latin typeface="Nexa-Book" panose="01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44C9D-2112-79B0-4816-9E78BD29BD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207476"/>
            <a:ext cx="6172200" cy="46535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8CF4E-C176-9D12-7120-4D0A9F2DA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50000"/>
                  </a:schemeClr>
                </a:solidFill>
                <a:latin typeface="Nexa-Book" panose="01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CB104-0143-327D-34B1-7151C9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EEECE-E60B-0CC8-E29F-58D51A51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91EF0-CF7E-5D1F-2062-9EBDCCA48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A6701-4F96-CE0C-492C-6DFAA4D17F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2200" y="485586"/>
            <a:ext cx="2023997" cy="627439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4F42B12-34D2-EC73-93B8-A643C1AB71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25" y="86085"/>
            <a:ext cx="1325563" cy="132556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225E6E-34E3-8E0F-A53C-AEDCE8120288}"/>
              </a:ext>
            </a:extLst>
          </p:cNvPr>
          <p:cNvCxnSpPr>
            <a:cxnSpLocks/>
          </p:cNvCxnSpPr>
          <p:nvPr userDrawn="1"/>
        </p:nvCxnSpPr>
        <p:spPr>
          <a:xfrm flipH="1">
            <a:off x="838200" y="2057400"/>
            <a:ext cx="393382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363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96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 Logo Blue 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AF69F4-770D-1B85-848B-D57E7B0CA1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85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174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6A0D65-B433-449D-A2E1-10BC8BD32A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0">
                <a:srgbClr val="00B0F0">
                  <a:shade val="67500"/>
                  <a:satMod val="115000"/>
                </a:srgbClr>
              </a:gs>
              <a:gs pos="44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C4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7" y="816637"/>
            <a:ext cx="5224725" cy="52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2250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 Logo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10B71-8D11-C201-F5B2-9A56EAFD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D346-A915-4882-A510-80C55F2B02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78E4-6752-116B-5D97-8F367EAA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D55ED-4483-8F05-E5C2-D2DE6EA4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180C-7AC5-428A-9DBB-8DF57BA31570}" type="slidenum">
              <a:rPr lang="en-GB" smtClean="0"/>
              <a:t>‹Nº›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4950-9F4F-61CB-028E-624818BE8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636" y="816636"/>
            <a:ext cx="5224725" cy="522472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CF1ACE1-D73B-D8C2-A924-FC1C935A2DAE}"/>
              </a:ext>
            </a:extLst>
          </p:cNvPr>
          <p:cNvSpPr/>
          <p:nvPr userDrawn="1"/>
        </p:nvSpPr>
        <p:spPr>
          <a:xfrm>
            <a:off x="3483636" y="816637"/>
            <a:ext cx="5224725" cy="5224725"/>
          </a:xfrm>
          <a:prstGeom prst="ellipse">
            <a:avLst/>
          </a:prstGeom>
          <a:noFill/>
          <a:ln w="38100">
            <a:solidFill>
              <a:srgbClr val="01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78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79A1B-8910-5BC1-CF92-B38FE72C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46328-37A7-2676-1096-E57A9505D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F5011-76B3-0174-3A68-9C86EC07D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7316D-C409-4712-90E5-1C58F0743890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6A41-F04C-56FA-AB94-EC92BB1FF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F6920-6913-6447-389F-BACD3E6EE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D00A0-B5A4-4974-B922-5D8D8E00DFD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80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66" r:id="rId3"/>
    <p:sldLayoutId id="2147483670" r:id="rId4"/>
    <p:sldLayoutId id="2147483676" r:id="rId5"/>
    <p:sldLayoutId id="2147483667" r:id="rId6"/>
    <p:sldLayoutId id="2147483671" r:id="rId7"/>
    <p:sldLayoutId id="2147483660" r:id="rId8"/>
    <p:sldLayoutId id="2147483665" r:id="rId9"/>
    <p:sldLayoutId id="2147483672" r:id="rId10"/>
    <p:sldLayoutId id="2147483673" r:id="rId11"/>
    <p:sldLayoutId id="2147483664" r:id="rId12"/>
    <p:sldLayoutId id="2147483661" r:id="rId13"/>
    <p:sldLayoutId id="2147483662" r:id="rId14"/>
    <p:sldLayoutId id="2147483674" r:id="rId15"/>
    <p:sldLayoutId id="2147483675" r:id="rId16"/>
    <p:sldLayoutId id="2147483663" r:id="rId17"/>
    <p:sldLayoutId id="2147483691" r:id="rId18"/>
    <p:sldLayoutId id="2147483677" r:id="rId19"/>
    <p:sldLayoutId id="2147483679" r:id="rId20"/>
    <p:sldLayoutId id="2147483678" r:id="rId21"/>
    <p:sldLayoutId id="2147483680" r:id="rId22"/>
    <p:sldLayoutId id="2147483681" r:id="rId23"/>
    <p:sldLayoutId id="2147483692" r:id="rId24"/>
    <p:sldLayoutId id="2147483682" r:id="rId25"/>
    <p:sldLayoutId id="2147483683" r:id="rId26"/>
    <p:sldLayoutId id="2147483693" r:id="rId27"/>
    <p:sldLayoutId id="2147483685" r:id="rId28"/>
    <p:sldLayoutId id="2147483684" r:id="rId29"/>
    <p:sldLayoutId id="2147483687" r:id="rId30"/>
    <p:sldLayoutId id="2147483686" r:id="rId31"/>
    <p:sldLayoutId id="2147483688" r:id="rId32"/>
    <p:sldLayoutId id="2147483695" r:id="rId33"/>
    <p:sldLayoutId id="2147483689" r:id="rId34"/>
    <p:sldLayoutId id="2147483690" r:id="rId35"/>
    <p:sldLayoutId id="2147483696" r:id="rId36"/>
    <p:sldLayoutId id="2147483698" r:id="rId37"/>
    <p:sldLayoutId id="2147483697" r:id="rId38"/>
    <p:sldLayoutId id="2147483699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A218E-F183-1ECD-87F9-30DEB403C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C3E94-4EA6-58E5-358B-4E8A80581F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Mini challenge 1</a:t>
            </a:r>
          </a:p>
        </p:txBody>
      </p:sp>
    </p:spTree>
    <p:extLst>
      <p:ext uri="{BB962C8B-B14F-4D97-AF65-F5344CB8AC3E}">
        <p14:creationId xmlns:p14="http://schemas.microsoft.com/office/powerpoint/2010/main" val="2022090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96566-8A79-E3C0-B3F8-ADE50679E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73379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600" dirty="0"/>
              <a:t>This activity is intended for the student to review the concepts introduced this week.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The activity consists of creating two nodes.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The first node will act as a simple signal generator. That will generate a sinusoidal signal.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The second node will act as a “process”, which will take the signal generated by the previous node and modify it, generating a “processed signal”.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Both signals must be plotted using the rqt_plot.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Different terminals must show the information of the generated signals (use it to debug).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A launch file must be generated to launch both nodes, terminals and rqt_plot at the same time.</a:t>
            </a:r>
          </a:p>
          <a:p>
            <a:pPr>
              <a:lnSpc>
                <a:spcPct val="150000"/>
              </a:lnSpc>
            </a:pPr>
            <a:endParaRPr lang="en-GB" sz="1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2CF5E2-5CC3-5F5E-6BCF-E4D193B515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172200" y="2294820"/>
            <a:ext cx="5181600" cy="341294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18C4C03-075E-9225-C2EE-4E66B50D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 1</a:t>
            </a:r>
          </a:p>
        </p:txBody>
      </p:sp>
    </p:spTree>
    <p:extLst>
      <p:ext uri="{BB962C8B-B14F-4D97-AF65-F5344CB8AC3E}">
        <p14:creationId xmlns:p14="http://schemas.microsoft.com/office/powerpoint/2010/main" val="4091373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58830-9444-7BE8-214B-17E900902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886" y="1665969"/>
            <a:ext cx="5181600" cy="54020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000" dirty="0">
                <a:latin typeface="Nexa-Bold" panose="01000000000000000000" pitchFamily="2" charset="0"/>
              </a:rPr>
              <a:t>The Signal Equation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F8235F-D5FA-DF19-455E-6BA33911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D7AC7CC-2F1B-3018-71C6-743F8C27B6E8}"/>
                  </a:ext>
                </a:extLst>
              </p:cNvPr>
              <p:cNvSpPr txBox="1"/>
              <p:nvPr/>
            </p:nvSpPr>
            <p:spPr>
              <a:xfrm>
                <a:off x="1229138" y="2317642"/>
                <a:ext cx="40114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s-MX" sz="2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𝑤𝑡</m:t>
                              </m:r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  <m: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D7AC7CC-2F1B-3018-71C6-743F8C27B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138" y="2317642"/>
                <a:ext cx="401148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A86868A-B886-BB9C-E711-6A6786E127BE}"/>
              </a:ext>
            </a:extLst>
          </p:cNvPr>
          <p:cNvSpPr txBox="1">
            <a:spLocks/>
          </p:cNvSpPr>
          <p:nvPr/>
        </p:nvSpPr>
        <p:spPr>
          <a:xfrm>
            <a:off x="1460059" y="3531532"/>
            <a:ext cx="1534886" cy="49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600" dirty="0"/>
              <a:t>Frequency</a:t>
            </a:r>
          </a:p>
          <a:p>
            <a:pPr algn="ctr">
              <a:lnSpc>
                <a:spcPct val="150000"/>
              </a:lnSpc>
            </a:pPr>
            <a:endParaRPr lang="en-GB" sz="1600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E0AF43BB-2B45-80C0-153C-3B3E923F66C8}"/>
              </a:ext>
            </a:extLst>
          </p:cNvPr>
          <p:cNvSpPr txBox="1">
            <a:spLocks/>
          </p:cNvSpPr>
          <p:nvPr/>
        </p:nvSpPr>
        <p:spPr>
          <a:xfrm>
            <a:off x="271194" y="3029752"/>
            <a:ext cx="1371601" cy="49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600" dirty="0"/>
              <a:t>Amplitude</a:t>
            </a:r>
          </a:p>
          <a:p>
            <a:pPr algn="ctr">
              <a:lnSpc>
                <a:spcPct val="150000"/>
              </a:lnSpc>
            </a:pPr>
            <a:endParaRPr lang="en-GB" sz="1600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A6BA8B1D-A28F-53A1-406A-DFA260A1D42A}"/>
              </a:ext>
            </a:extLst>
          </p:cNvPr>
          <p:cNvSpPr txBox="1">
            <a:spLocks/>
          </p:cNvSpPr>
          <p:nvPr/>
        </p:nvSpPr>
        <p:spPr>
          <a:xfrm>
            <a:off x="2867508" y="3250949"/>
            <a:ext cx="1534886" cy="49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600" dirty="0"/>
              <a:t>Phase</a:t>
            </a:r>
          </a:p>
          <a:p>
            <a:pPr algn="ctr">
              <a:lnSpc>
                <a:spcPct val="150000"/>
              </a:lnSpc>
            </a:pPr>
            <a:endParaRPr lang="en-GB" sz="1600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B8BFA740-9FFC-C828-AD7A-3C0CE16C78CF}"/>
              </a:ext>
            </a:extLst>
          </p:cNvPr>
          <p:cNvSpPr txBox="1">
            <a:spLocks/>
          </p:cNvSpPr>
          <p:nvPr/>
        </p:nvSpPr>
        <p:spPr>
          <a:xfrm>
            <a:off x="4063605" y="3448359"/>
            <a:ext cx="1534886" cy="49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600" dirty="0"/>
              <a:t>Offset</a:t>
            </a:r>
          </a:p>
          <a:p>
            <a:pPr algn="ctr">
              <a:lnSpc>
                <a:spcPct val="150000"/>
              </a:lnSpc>
            </a:pPr>
            <a:endParaRPr lang="en-GB" sz="1600" dirty="0"/>
          </a:p>
        </p:txBody>
      </p:sp>
      <p:cxnSp>
        <p:nvCxnSpPr>
          <p:cNvPr id="16" name="Conector: curvado 15">
            <a:extLst>
              <a:ext uri="{FF2B5EF4-FFF2-40B4-BE49-F238E27FC236}">
                <a16:creationId xmlns:a16="http://schemas.microsoft.com/office/drawing/2014/main" id="{DA37F00A-F443-6D79-2142-C4D15C62F309}"/>
              </a:ext>
            </a:extLst>
          </p:cNvPr>
          <p:cNvCxnSpPr>
            <a:cxnSpLocks/>
            <a:stCxn id="10" idx="3"/>
            <a:endCxn id="18" idx="4"/>
          </p:cNvCxnSpPr>
          <p:nvPr/>
        </p:nvCxnSpPr>
        <p:spPr>
          <a:xfrm flipV="1">
            <a:off x="1642795" y="2755652"/>
            <a:ext cx="1047944" cy="520322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>
            <a:extLst>
              <a:ext uri="{FF2B5EF4-FFF2-40B4-BE49-F238E27FC236}">
                <a16:creationId xmlns:a16="http://schemas.microsoft.com/office/drawing/2014/main" id="{67C28FF8-34C9-7FDA-83FB-41DEB8859237}"/>
              </a:ext>
            </a:extLst>
          </p:cNvPr>
          <p:cNvSpPr/>
          <p:nvPr/>
        </p:nvSpPr>
        <p:spPr>
          <a:xfrm>
            <a:off x="2636764" y="2652692"/>
            <a:ext cx="107950" cy="1029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0D56033-175E-9248-9E04-D316EE2C3030}"/>
              </a:ext>
            </a:extLst>
          </p:cNvPr>
          <p:cNvSpPr/>
          <p:nvPr/>
        </p:nvSpPr>
        <p:spPr>
          <a:xfrm>
            <a:off x="3654578" y="2652692"/>
            <a:ext cx="107950" cy="1029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C10A906-3D16-4936-9326-FD0CF710F7B6}"/>
              </a:ext>
            </a:extLst>
          </p:cNvPr>
          <p:cNvSpPr/>
          <p:nvPr/>
        </p:nvSpPr>
        <p:spPr>
          <a:xfrm>
            <a:off x="4607272" y="2652692"/>
            <a:ext cx="107950" cy="1029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9CB8986-B8C8-C16B-EA43-D0494CFE2E3E}"/>
              </a:ext>
            </a:extLst>
          </p:cNvPr>
          <p:cNvSpPr/>
          <p:nvPr/>
        </p:nvSpPr>
        <p:spPr>
          <a:xfrm>
            <a:off x="5535086" y="2652692"/>
            <a:ext cx="107950" cy="1029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56575E30-93DA-45CA-81CE-C466BC7A613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89740" y="2551750"/>
            <a:ext cx="766543" cy="1228823"/>
          </a:xfrm>
          <a:prstGeom prst="curvedConnector3">
            <a:avLst>
              <a:gd name="adj1" fmla="val 42545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curvado 31">
            <a:extLst>
              <a:ext uri="{FF2B5EF4-FFF2-40B4-BE49-F238E27FC236}">
                <a16:creationId xmlns:a16="http://schemas.microsoft.com/office/drawing/2014/main" id="{A73DA98A-EE5F-93C0-BE1D-446C1C545F7D}"/>
              </a:ext>
            </a:extLst>
          </p:cNvPr>
          <p:cNvCxnSpPr>
            <a:cxnSpLocks/>
            <a:stCxn id="12" idx="0"/>
          </p:cNvCxnSpPr>
          <p:nvPr/>
        </p:nvCxnSpPr>
        <p:spPr>
          <a:xfrm rot="5400000" flipH="1" flipV="1">
            <a:off x="3690298" y="2729158"/>
            <a:ext cx="466445" cy="577138"/>
          </a:xfrm>
          <a:prstGeom prst="curvedConnector3">
            <a:avLst>
              <a:gd name="adj1" fmla="val 30163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curvado 35">
            <a:extLst>
              <a:ext uri="{FF2B5EF4-FFF2-40B4-BE49-F238E27FC236}">
                <a16:creationId xmlns:a16="http://schemas.microsoft.com/office/drawing/2014/main" id="{02644E9B-C0F7-23CC-FB17-0058F58CC5A4}"/>
              </a:ext>
            </a:extLst>
          </p:cNvPr>
          <p:cNvCxnSpPr>
            <a:cxnSpLocks/>
            <a:stCxn id="14" idx="3"/>
          </p:cNvCxnSpPr>
          <p:nvPr/>
        </p:nvCxnSpPr>
        <p:spPr>
          <a:xfrm flipH="1" flipV="1">
            <a:off x="5039952" y="2784504"/>
            <a:ext cx="558539" cy="910077"/>
          </a:xfrm>
          <a:prstGeom prst="curvedConnector4">
            <a:avLst>
              <a:gd name="adj1" fmla="val -17541"/>
              <a:gd name="adj2" fmla="val 50968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1">
            <a:extLst>
              <a:ext uri="{FF2B5EF4-FFF2-40B4-BE49-F238E27FC236}">
                <a16:creationId xmlns:a16="http://schemas.microsoft.com/office/drawing/2014/main" id="{DC7BDC0C-01ED-B27F-8E10-627D9ADF35B8}"/>
              </a:ext>
            </a:extLst>
          </p:cNvPr>
          <p:cNvSpPr txBox="1">
            <a:spLocks/>
          </p:cNvSpPr>
          <p:nvPr/>
        </p:nvSpPr>
        <p:spPr>
          <a:xfrm>
            <a:off x="6150485" y="1554500"/>
            <a:ext cx="5770321" cy="2618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latin typeface="Nexa-Bold" panose="01000000000000000000" pitchFamily="2" charset="0"/>
              </a:rPr>
              <a:t>Amplitude</a:t>
            </a:r>
            <a:r>
              <a:rPr lang="en-GB" sz="1600" dirty="0">
                <a:latin typeface="Nexa-Bold" panose="01000000000000000000" pitchFamily="2" charset="0"/>
              </a:rPr>
              <a:t>: </a:t>
            </a:r>
            <a:r>
              <a:rPr lang="es-MX" sz="1600" dirty="0"/>
              <a:t>The vertical </a:t>
            </a:r>
            <a:r>
              <a:rPr lang="es-MX" sz="1600" dirty="0" err="1"/>
              <a:t>height</a:t>
            </a:r>
            <a:r>
              <a:rPr lang="es-MX" sz="1600" dirty="0"/>
              <a:t> </a:t>
            </a:r>
            <a:r>
              <a:rPr lang="es-MX" sz="1600" dirty="0" err="1"/>
              <a:t>from</a:t>
            </a:r>
            <a:r>
              <a:rPr lang="es-MX" sz="1600" dirty="0"/>
              <a:t> </a:t>
            </a:r>
            <a:r>
              <a:rPr lang="es-MX" sz="1600" dirty="0" err="1"/>
              <a:t>the</a:t>
            </a:r>
            <a:r>
              <a:rPr lang="es-MX" sz="1600" dirty="0"/>
              <a:t> center line </a:t>
            </a:r>
            <a:r>
              <a:rPr lang="es-MX" sz="1600" dirty="0" err="1"/>
              <a:t>of</a:t>
            </a:r>
            <a:r>
              <a:rPr lang="es-MX" sz="1600" dirty="0"/>
              <a:t> </a:t>
            </a:r>
            <a:r>
              <a:rPr lang="es-MX" sz="1600" dirty="0" err="1"/>
              <a:t>the</a:t>
            </a:r>
            <a:r>
              <a:rPr lang="es-MX" sz="1600" dirty="0"/>
              <a:t> wave </a:t>
            </a:r>
            <a:r>
              <a:rPr lang="es-MX" sz="1600" dirty="0" err="1"/>
              <a:t>to</a:t>
            </a:r>
            <a:r>
              <a:rPr lang="es-MX" sz="1600" dirty="0"/>
              <a:t> a </a:t>
            </a:r>
            <a:r>
              <a:rPr lang="es-MX" sz="1600" dirty="0" err="1"/>
              <a:t>peak</a:t>
            </a:r>
            <a:r>
              <a:rPr lang="es-MX" sz="1600" dirty="0"/>
              <a:t>.</a:t>
            </a:r>
          </a:p>
          <a:p>
            <a:pPr marL="0" indent="0">
              <a:buNone/>
            </a:pPr>
            <a:r>
              <a:rPr lang="en-GB" sz="1600" b="1" dirty="0">
                <a:latin typeface="Nexa-Bold" panose="01000000000000000000" pitchFamily="2" charset="0"/>
              </a:rPr>
              <a:t>Frequency</a:t>
            </a:r>
            <a:r>
              <a:rPr lang="en-GB" sz="1600" dirty="0">
                <a:latin typeface="Nexa-Bold" panose="01000000000000000000" pitchFamily="2" charset="0"/>
              </a:rPr>
              <a:t>: </a:t>
            </a:r>
            <a:r>
              <a:rPr lang="es-MX" sz="1600" dirty="0"/>
              <a:t>The </a:t>
            </a:r>
            <a:r>
              <a:rPr lang="es-MX" sz="1600" dirty="0" err="1"/>
              <a:t>number</a:t>
            </a:r>
            <a:r>
              <a:rPr lang="es-MX" sz="1600" dirty="0"/>
              <a:t> </a:t>
            </a:r>
            <a:r>
              <a:rPr lang="es-MX" sz="1600" dirty="0" err="1"/>
              <a:t>of</a:t>
            </a:r>
            <a:r>
              <a:rPr lang="es-MX" sz="1600" dirty="0"/>
              <a:t> </a:t>
            </a:r>
            <a:r>
              <a:rPr lang="es-MX" sz="1600" dirty="0" err="1"/>
              <a:t>cycles</a:t>
            </a:r>
            <a:r>
              <a:rPr lang="es-MX" sz="1600" dirty="0"/>
              <a:t> </a:t>
            </a:r>
            <a:r>
              <a:rPr lang="es-MX" sz="1600" dirty="0" err="1"/>
              <a:t>that</a:t>
            </a:r>
            <a:r>
              <a:rPr lang="es-MX" sz="1600" dirty="0"/>
              <a:t> </a:t>
            </a:r>
            <a:r>
              <a:rPr lang="es-MX" sz="1600" dirty="0" err="1"/>
              <a:t>happen</a:t>
            </a:r>
            <a:r>
              <a:rPr lang="es-MX" sz="1600" dirty="0"/>
              <a:t> </a:t>
            </a:r>
            <a:r>
              <a:rPr lang="es-MX" sz="1600" dirty="0" err="1"/>
              <a:t>within</a:t>
            </a:r>
            <a:r>
              <a:rPr lang="es-MX" sz="1600" dirty="0"/>
              <a:t> </a:t>
            </a:r>
            <a:r>
              <a:rPr lang="es-MX" sz="1600" dirty="0" err="1"/>
              <a:t>the</a:t>
            </a:r>
            <a:r>
              <a:rPr lang="es-MX" sz="1600" dirty="0"/>
              <a:t> time </a:t>
            </a:r>
            <a:r>
              <a:rPr lang="es-MX" sz="1600" dirty="0" err="1"/>
              <a:t>period</a:t>
            </a:r>
            <a:r>
              <a:rPr lang="es-MX" sz="1600" dirty="0"/>
              <a:t>.</a:t>
            </a:r>
            <a:endParaRPr lang="en-GB" sz="1600" dirty="0"/>
          </a:p>
          <a:p>
            <a:pPr marL="0" indent="0">
              <a:buNone/>
            </a:pPr>
            <a:r>
              <a:rPr lang="en-GB" sz="1600" b="1" dirty="0">
                <a:latin typeface="Nexa-Bold" panose="01000000000000000000" pitchFamily="2" charset="0"/>
              </a:rPr>
              <a:t>Phase</a:t>
            </a:r>
            <a:r>
              <a:rPr lang="en-GB" sz="1600" dirty="0">
                <a:latin typeface="Nexa-Bold" panose="01000000000000000000" pitchFamily="2" charset="0"/>
              </a:rPr>
              <a:t>: </a:t>
            </a:r>
            <a:r>
              <a:rPr lang="es-MX" sz="1600" dirty="0"/>
              <a:t>The horizontal </a:t>
            </a:r>
            <a:r>
              <a:rPr lang="es-MX" sz="1600" dirty="0" err="1"/>
              <a:t>sliding</a:t>
            </a:r>
            <a:r>
              <a:rPr lang="es-MX" sz="1600" dirty="0"/>
              <a:t> </a:t>
            </a:r>
            <a:r>
              <a:rPr lang="es-MX" sz="1600" dirty="0" err="1"/>
              <a:t>of</a:t>
            </a:r>
            <a:r>
              <a:rPr lang="es-MX" sz="1600" dirty="0"/>
              <a:t> </a:t>
            </a:r>
            <a:r>
              <a:rPr lang="es-MX" sz="1600" dirty="0" err="1"/>
              <a:t>the</a:t>
            </a:r>
            <a:r>
              <a:rPr lang="es-MX" sz="1600" dirty="0"/>
              <a:t> wave </a:t>
            </a:r>
            <a:r>
              <a:rPr lang="es-MX" sz="1600" dirty="0" err="1"/>
              <a:t>to</a:t>
            </a:r>
            <a:r>
              <a:rPr lang="es-MX" sz="1600" dirty="0"/>
              <a:t> </a:t>
            </a:r>
            <a:r>
              <a:rPr lang="es-MX" sz="1600" dirty="0" err="1"/>
              <a:t>the</a:t>
            </a:r>
            <a:r>
              <a:rPr lang="es-MX" sz="1600" dirty="0"/>
              <a:t> </a:t>
            </a:r>
            <a:r>
              <a:rPr lang="es-MX" sz="1600" dirty="0" err="1"/>
              <a:t>left</a:t>
            </a:r>
            <a:r>
              <a:rPr lang="es-MX" sz="1600" dirty="0"/>
              <a:t> </a:t>
            </a:r>
            <a:r>
              <a:rPr lang="es-MX" sz="1600" dirty="0" err="1"/>
              <a:t>or</a:t>
            </a:r>
            <a:r>
              <a:rPr lang="es-MX" sz="1600" dirty="0"/>
              <a:t> </a:t>
            </a:r>
            <a:r>
              <a:rPr lang="es-MX" sz="1600" dirty="0" err="1"/>
              <a:t>right</a:t>
            </a:r>
            <a:r>
              <a:rPr lang="es-MX" sz="1600" dirty="0"/>
              <a:t> </a:t>
            </a:r>
            <a:r>
              <a:rPr lang="es-MX" sz="1600" dirty="0" err="1"/>
              <a:t>from</a:t>
            </a:r>
            <a:r>
              <a:rPr lang="es-MX" sz="1600" dirty="0"/>
              <a:t> </a:t>
            </a:r>
            <a:r>
              <a:rPr lang="es-MX" sz="1600" dirty="0" err="1"/>
              <a:t>its</a:t>
            </a:r>
            <a:r>
              <a:rPr lang="es-MX" sz="1600" dirty="0"/>
              <a:t> standard position.</a:t>
            </a:r>
          </a:p>
          <a:p>
            <a:pPr marL="0" indent="0">
              <a:buNone/>
            </a:pPr>
            <a:r>
              <a:rPr lang="en-GB" sz="1600" b="1" dirty="0">
                <a:latin typeface="Nexa-Bold" panose="01000000000000000000" pitchFamily="2" charset="0"/>
              </a:rPr>
              <a:t>Offset</a:t>
            </a:r>
            <a:r>
              <a:rPr lang="en-GB" sz="1600" dirty="0">
                <a:latin typeface="Nexa-Bold" panose="01000000000000000000" pitchFamily="2" charset="0"/>
              </a:rPr>
              <a:t>: </a:t>
            </a:r>
            <a:r>
              <a:rPr lang="es-MX" sz="1600" dirty="0"/>
              <a:t>The vertical </a:t>
            </a:r>
            <a:r>
              <a:rPr lang="es-MX" sz="1600" dirty="0" err="1"/>
              <a:t>sliding</a:t>
            </a:r>
            <a:r>
              <a:rPr lang="es-MX" sz="1600" dirty="0"/>
              <a:t> </a:t>
            </a:r>
            <a:r>
              <a:rPr lang="es-MX" sz="1600" dirty="0" err="1"/>
              <a:t>of</a:t>
            </a:r>
            <a:r>
              <a:rPr lang="es-MX" sz="1600" dirty="0"/>
              <a:t> </a:t>
            </a:r>
            <a:r>
              <a:rPr lang="es-MX" sz="1600" dirty="0" err="1"/>
              <a:t>the</a:t>
            </a:r>
            <a:r>
              <a:rPr lang="es-MX" sz="1600" dirty="0"/>
              <a:t> wave </a:t>
            </a:r>
            <a:r>
              <a:rPr lang="es-MX" sz="1600" dirty="0" err="1"/>
              <a:t>to</a:t>
            </a:r>
            <a:r>
              <a:rPr lang="es-MX" sz="1600" dirty="0"/>
              <a:t> </a:t>
            </a:r>
            <a:r>
              <a:rPr lang="es-MX" sz="1600" dirty="0" err="1"/>
              <a:t>the</a:t>
            </a:r>
            <a:r>
              <a:rPr lang="es-MX" sz="1600" dirty="0"/>
              <a:t> </a:t>
            </a:r>
            <a:r>
              <a:rPr lang="es-MX" sz="1600" dirty="0" err="1"/>
              <a:t>left</a:t>
            </a:r>
            <a:r>
              <a:rPr lang="es-MX" sz="1600" dirty="0"/>
              <a:t> </a:t>
            </a:r>
            <a:r>
              <a:rPr lang="es-MX" sz="1600" dirty="0" err="1"/>
              <a:t>or</a:t>
            </a:r>
            <a:r>
              <a:rPr lang="es-MX" sz="1600" dirty="0"/>
              <a:t> </a:t>
            </a:r>
            <a:r>
              <a:rPr lang="es-MX" sz="1600" dirty="0" err="1"/>
              <a:t>right</a:t>
            </a:r>
            <a:r>
              <a:rPr lang="es-MX" sz="1600" dirty="0"/>
              <a:t> </a:t>
            </a:r>
            <a:r>
              <a:rPr lang="es-MX" sz="1600" dirty="0" err="1"/>
              <a:t>from</a:t>
            </a:r>
            <a:r>
              <a:rPr lang="es-MX" sz="1600" dirty="0"/>
              <a:t> </a:t>
            </a:r>
            <a:r>
              <a:rPr lang="es-MX" sz="1600" dirty="0" err="1"/>
              <a:t>its</a:t>
            </a:r>
            <a:r>
              <a:rPr lang="es-MX" sz="1600" dirty="0"/>
              <a:t> standard position.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600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EB02EF67-61A5-72C5-295C-3372C65712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28" r="2843"/>
          <a:stretch>
            <a:fillRect/>
          </a:stretch>
        </p:blipFill>
        <p:spPr>
          <a:xfrm>
            <a:off x="423760" y="4132173"/>
            <a:ext cx="11344479" cy="24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793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F27A-F913-6340-5880-AEB7BAB5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CF588A4-41C6-05CB-B850-61754E90B4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54718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GB" sz="2900" dirty="0">
                    <a:latin typeface="Nexa-Bold" panose="01000000000000000000" pitchFamily="2" charset="0"/>
                  </a:rPr>
                  <a:t>Signal Generator Node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2200" dirty="0"/>
                  <a:t>Create a new package called “</a:t>
                </a:r>
                <a:r>
                  <a:rPr lang="en-GB" sz="2200" dirty="0" err="1"/>
                  <a:t>signal_processing</a:t>
                </a:r>
                <a:r>
                  <a:rPr lang="en-GB" sz="2200" dirty="0"/>
                  <a:t>” (std_msgs and </a:t>
                </a:r>
                <a:r>
                  <a:rPr lang="en-GB" sz="2200" dirty="0" err="1"/>
                  <a:t>rclpy</a:t>
                </a:r>
                <a:r>
                  <a:rPr lang="en-GB" sz="2200" dirty="0"/>
                  <a:t>)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2200" dirty="0"/>
                  <a:t>Make a node called “</a:t>
                </a:r>
                <a:r>
                  <a:rPr lang="en-GB" sz="2200" dirty="0" err="1"/>
                  <a:t>signal_generator</a:t>
                </a:r>
                <a:r>
                  <a:rPr lang="en-GB" sz="2200" dirty="0"/>
                  <a:t>” to generate a sine wave with respect to time i.e.,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2200" dirty="0"/>
                  <a:t>Publish the result  using a </a:t>
                </a:r>
                <a:r>
                  <a:rPr lang="en-GB" sz="2200" dirty="0">
                    <a:latin typeface="Consolas" panose="020B0609020204030204" pitchFamily="49" charset="0"/>
                  </a:rPr>
                  <a:t>Float32</a:t>
                </a:r>
                <a:r>
                  <a:rPr lang="en-GB" sz="2200" dirty="0"/>
                  <a:t> standard ROS message to a topic named “/signal”.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2200" dirty="0"/>
                  <a:t>Publish the time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2200" dirty="0"/>
                  <a:t> into another topic called “/time” using the same type of message.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2200" dirty="0"/>
                  <a:t>Use a rate of 10 Hz for this node.</a:t>
                </a:r>
              </a:p>
              <a:p>
                <a:pPr marL="914400" lvl="1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2200" dirty="0"/>
                  <a:t>Print the result on the terminal using </a:t>
                </a:r>
                <a:r>
                  <a:rPr lang="en-GB" sz="2200" dirty="0" err="1">
                    <a:latin typeface="Consolas" panose="020B0609020204030204" pitchFamily="49" charset="0"/>
                  </a:rPr>
                  <a:t>get_logger</a:t>
                </a:r>
                <a:r>
                  <a:rPr lang="en-GB" sz="2200" dirty="0">
                    <a:latin typeface="Consolas" panose="020B0609020204030204" pitchFamily="49" charset="0"/>
                  </a:rPr>
                  <a:t>().info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258830-9444-7BE8-214B-17E9009024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4547183"/>
              </a:xfrm>
              <a:blipFill>
                <a:blip r:embed="rId3"/>
                <a:stretch>
                  <a:fillRect l="-1294" b="-13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9FEA1-6F34-4165-92A7-5F172626E52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4547183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 algn="just">
                  <a:lnSpc>
                    <a:spcPct val="130000"/>
                  </a:lnSpc>
                  <a:buNone/>
                </a:pPr>
                <a:r>
                  <a:rPr lang="en-GB" sz="2000" dirty="0">
                    <a:latin typeface="Nexa-Bold" panose="01000000000000000000" pitchFamily="2" charset="0"/>
                  </a:rPr>
                  <a:t>Process Node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1400" dirty="0"/>
                  <a:t>Design a second node called “process” that subscribes to the “/signal” and “/time” topics.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1400" dirty="0"/>
                  <a:t>Process the received signal as follows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1400" dirty="0"/>
                  <a:t>Offset the received signal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g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1400" dirty="0"/>
                  <a:t>) such that remains positive for all time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≥ 0</m:t>
                    </m:r>
                  </m:oMath>
                </a14:m>
                <a:r>
                  <a:rPr lang="en-GB" sz="1400" dirty="0"/>
                  <a:t> ,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1400" dirty="0"/>
                  <a:t>Reduce the amplitude of the received signal in half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1400" dirty="0"/>
                  <a:t>Add a phase shift to the received signal (as a user parameter or variable) to the original signal. 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:r>
                  <a:rPr lang="en-GB" sz="1100" dirty="0"/>
                  <a:t>** For this exercise, this parameter can be hardcoded.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1400" dirty="0"/>
                  <a:t>Use a rate of 10 Hz (you can ty different rates) for this node.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1400" dirty="0"/>
                  <a:t>The result must be printed in the terminal.</a:t>
                </a: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GB" sz="1400" dirty="0"/>
                  <a:t>The resultant signal must be published using  </a:t>
                </a:r>
                <a:r>
                  <a:rPr lang="en-GB" sz="1400" dirty="0">
                    <a:latin typeface="Consolas" panose="020B0609020204030204" pitchFamily="49" charset="0"/>
                  </a:rPr>
                  <a:t>Float32</a:t>
                </a:r>
                <a:r>
                  <a:rPr lang="en-GB" sz="1400" dirty="0"/>
                  <a:t> message into a topic called “/proc_signal”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A9FEA1-6F34-4165-92A7-5F172626E5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4547183"/>
              </a:xfrm>
              <a:blipFill>
                <a:blip r:embed="rId4"/>
                <a:stretch>
                  <a:fillRect l="-824" b="-67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FA1E43DE-1DCD-990D-79C5-57A246AD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 1 – Part 1</a:t>
            </a:r>
          </a:p>
        </p:txBody>
      </p:sp>
    </p:spTree>
    <p:extLst>
      <p:ext uri="{BB962C8B-B14F-4D97-AF65-F5344CB8AC3E}">
        <p14:creationId xmlns:p14="http://schemas.microsoft.com/office/powerpoint/2010/main" val="1697131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03BA8F-C697-82DC-DCF4-2CB25F2C27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latin typeface="Nexa-Bold" panose="01000000000000000000" pitchFamily="2" charset="0"/>
              </a:rPr>
              <a:t>Launch File and Plotting</a:t>
            </a:r>
          </a:p>
          <a:p>
            <a:pPr>
              <a:lnSpc>
                <a:spcPct val="150000"/>
              </a:lnSpc>
            </a:pPr>
            <a:r>
              <a:rPr lang="en-GB" sz="1400" dirty="0"/>
              <a:t>Use the ROS tool “rqt_plot” to plot both signals.</a:t>
            </a:r>
          </a:p>
          <a:p>
            <a:pPr lvl="1">
              <a:lnSpc>
                <a:spcPct val="150000"/>
              </a:lnSpc>
            </a:pPr>
            <a:r>
              <a:rPr lang="en-GB" sz="1000" dirty="0"/>
              <a:t>ros2 run </a:t>
            </a:r>
            <a:r>
              <a:rPr lang="en-GB" sz="1000" dirty="0" err="1"/>
              <a:t>rqt_plot</a:t>
            </a:r>
            <a:r>
              <a:rPr lang="en-GB" sz="1000" dirty="0"/>
              <a:t> </a:t>
            </a:r>
            <a:r>
              <a:rPr lang="en-GB" sz="1000" dirty="0" err="1"/>
              <a:t>rqt_plot</a:t>
            </a:r>
            <a:endParaRPr lang="en-GB" sz="1000" dirty="0"/>
          </a:p>
          <a:p>
            <a:pPr>
              <a:lnSpc>
                <a:spcPct val="150000"/>
              </a:lnSpc>
            </a:pPr>
            <a:r>
              <a:rPr lang="en-GB" sz="1400" dirty="0"/>
              <a:t>Make a Launch file to execute both nodes at the same time.</a:t>
            </a:r>
          </a:p>
          <a:p>
            <a:pPr lvl="1">
              <a:lnSpc>
                <a:spcPct val="150000"/>
              </a:lnSpc>
            </a:pPr>
            <a:r>
              <a:rPr lang="en-GB" sz="1400" dirty="0"/>
              <a:t>The Launch file must open the rqt_plot and plot both signals in the same window.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/>
              <a:t>* You can use the following code in the launch file to open the </a:t>
            </a:r>
            <a:r>
              <a:rPr lang="en-GB" sz="1200" dirty="0" err="1"/>
              <a:t>rqt_plot</a:t>
            </a:r>
            <a:r>
              <a:rPr lang="en-GB" sz="1200" dirty="0"/>
              <a:t>, showing the data on the topics.</a:t>
            </a: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6043F-B83B-8B64-FF39-1AEA1B07620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>
                    <a:latin typeface="Nexa-Bold" panose="01000000000000000000" pitchFamily="2" charset="0"/>
                  </a:rPr>
                  <a:t>Tips and tricks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200" dirty="0"/>
                  <a:t>The following tips and trick are not mandatory to be used, they are simply suggestions that could when designing the nodes.</a:t>
                </a:r>
              </a:p>
              <a:p>
                <a:pPr marL="269875" lvl="1" indent="-269875">
                  <a:lnSpc>
                    <a:spcPct val="150000"/>
                  </a:lnSpc>
                </a:pPr>
                <a:r>
                  <a:rPr lang="en-GB" sz="1200" dirty="0"/>
                  <a:t>For this task, the student can use the NumPy python library, using the following command at the beginning of your code..</a:t>
                </a:r>
              </a:p>
              <a:p>
                <a:pPr marL="269875" lvl="1" indent="-269875">
                  <a:lnSpc>
                    <a:spcPct val="150000"/>
                  </a:lnSpc>
                </a:pPr>
                <a:endParaRPr lang="en-GB" sz="1200" dirty="0"/>
              </a:p>
              <a:p>
                <a:pPr marL="269875" lvl="1" indent="-269875">
                  <a:lnSpc>
                    <a:spcPct val="150000"/>
                  </a:lnSpc>
                </a:pPr>
                <a:r>
                  <a:rPr lang="en-US" sz="1200" dirty="0"/>
                  <a:t>Students are encouraged to use trigonometric identities or other mathematical resources to modify the input signal.</a:t>
                </a:r>
              </a:p>
              <a:p>
                <a:pPr marL="269875" lvl="2" indent="-269875" algn="ctr">
                  <a:lnSpc>
                    <a:spcPct val="150000"/>
                  </a:lnSpc>
                  <a:buNone/>
                </a:pPr>
                <a:r>
                  <a:rPr lang="en-US" sz="1200" b="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US" sz="12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12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</m:func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d>
                          </m:e>
                        </m:func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func>
                  </m:oMath>
                </a14:m>
                <a:r>
                  <a:rPr lang="en-US" sz="1200" dirty="0"/>
                  <a:t> etc.</a:t>
                </a:r>
              </a:p>
              <a:p>
                <a:pPr marL="269875" lvl="1" indent="-269875">
                  <a:lnSpc>
                    <a:spcPct val="150000"/>
                  </a:lnSpc>
                </a:pPr>
                <a:r>
                  <a:rPr lang="en-US" sz="1200" dirty="0"/>
                  <a:t>Wrap to pi function can also be used</a:t>
                </a:r>
              </a:p>
              <a:p>
                <a:pPr marL="269875" lvl="1" indent="-269875">
                  <a:lnSpc>
                    <a:spcPct val="150000"/>
                  </a:lnSpc>
                </a:pPr>
                <a:endParaRPr lang="en-US" sz="1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6043F-B83B-8B64-FF39-1AEA1B0762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4351338"/>
              </a:xfrm>
              <a:blipFill>
                <a:blip r:embed="rId2"/>
                <a:stretch>
                  <a:fillRect l="-1294" r="-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ACA87586-FB8F-A018-67B5-7F69FC6E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 1 – Part 1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0800B69-B16B-4AC6-1605-8D857102F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4816" y="3775611"/>
            <a:ext cx="5008984" cy="225683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2730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050" dirty="0" err="1">
                <a:solidFill>
                  <a:srgbClr val="333333"/>
                </a:solidFill>
                <a:latin typeface="Consolas" panose="020B0609020204030204" pitchFamily="49" charset="0"/>
              </a:rPr>
              <a:t>numpy</a:t>
            </a:r>
            <a:r>
              <a:rPr lang="en-US" altLang="en-US" sz="1050" dirty="0">
                <a:solidFill>
                  <a:srgbClr val="333333"/>
                </a:solidFill>
                <a:latin typeface="Consolas" panose="020B0609020204030204" pitchFamily="49" charset="0"/>
              </a:rPr>
              <a:t> as np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0DE742-97C7-8A7C-AB59-BD7F8868C04C}"/>
              </a:ext>
            </a:extLst>
          </p:cNvPr>
          <p:cNvSpPr/>
          <p:nvPr/>
        </p:nvSpPr>
        <p:spPr>
          <a:xfrm>
            <a:off x="510988" y="5423647"/>
            <a:ext cx="5508812" cy="12192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GB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rqt_node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Node(name=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rqt_plot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package=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rqt_plot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executable=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rqt_plot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arguments=[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'/signal/data'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GB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proc_signal</a:t>
            </a:r>
            <a:r>
              <a:rPr lang="en-GB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/data'</a:t>
            </a: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en-GB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</p:txBody>
      </p:sp>
    </p:spTree>
    <p:extLst>
      <p:ext uri="{BB962C8B-B14F-4D97-AF65-F5344CB8AC3E}">
        <p14:creationId xmlns:p14="http://schemas.microsoft.com/office/powerpoint/2010/main" val="638767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2A307A-815A-B0F0-BDEA-D537392128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Nexa-Bold" panose="01000000000000000000" pitchFamily="2" charset="0"/>
              </a:rPr>
              <a:t>Nodes displayed using </a:t>
            </a:r>
            <a:r>
              <a:rPr lang="en-US" sz="2000" dirty="0" err="1">
                <a:latin typeface="Nexa-Bold" panose="01000000000000000000" pitchFamily="2" charset="0"/>
              </a:rPr>
              <a:t>rqt_graph</a:t>
            </a:r>
            <a:endParaRPr lang="en-GB" sz="2000" dirty="0">
              <a:latin typeface="Nexa-Bold" panose="01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292C2-A92E-3CA4-C95B-A01703E51F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Nexa-Bold" panose="01000000000000000000" pitchFamily="2" charset="0"/>
              </a:rPr>
              <a:t>Resultant signals displayed using </a:t>
            </a:r>
            <a:r>
              <a:rPr lang="en-US" sz="2000" dirty="0" err="1">
                <a:latin typeface="Nexa-Bold" panose="01000000000000000000" pitchFamily="2" charset="0"/>
              </a:rPr>
              <a:t>rqt_plot</a:t>
            </a:r>
            <a:endParaRPr lang="en-GB" sz="2000" dirty="0">
              <a:latin typeface="Nexa-Bold" panose="01000000000000000000" pitchFamily="2" charset="0"/>
            </a:endParaRP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BF6F97-DE97-0D06-19B2-617163B2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 – Part 1</a:t>
            </a:r>
            <a:br>
              <a:rPr lang="en-US" dirty="0"/>
            </a:br>
            <a:r>
              <a:rPr lang="en-US" dirty="0"/>
              <a:t>(expected results)</a:t>
            </a:r>
            <a:endParaRPr lang="en-GB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645891E-5D06-BDD3-B0CE-84EF5D0597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4" t="31103" r="645" b="19915"/>
          <a:stretch/>
        </p:blipFill>
        <p:spPr>
          <a:xfrm>
            <a:off x="254232" y="3032448"/>
            <a:ext cx="5505362" cy="1418254"/>
          </a:xfrm>
          <a:prstGeom prst="rect">
            <a:avLst/>
          </a:prstGeom>
        </p:spPr>
      </p:pic>
      <p:pic>
        <p:nvPicPr>
          <p:cNvPr id="6" name="Picture 5" descr="Graphical user interface, chart, line chart&#10;&#10;Description automatically generated">
            <a:extLst>
              <a:ext uri="{FF2B5EF4-FFF2-40B4-BE49-F238E27FC236}">
                <a16:creationId xmlns:a16="http://schemas.microsoft.com/office/drawing/2014/main" id="{BCECE62E-0745-F40F-AEB4-E56EBB6AE2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91" t="18701" r="10000" b="7589"/>
          <a:stretch/>
        </p:blipFill>
        <p:spPr>
          <a:xfrm>
            <a:off x="6172200" y="2803386"/>
            <a:ext cx="5181600" cy="273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71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DB4EA-9ED8-EB4A-50A4-B0A628D8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CEDB38-C31A-E8EC-F476-CE1CD1EC5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11589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900" dirty="0">
                <a:latin typeface="Nexa-Bold" panose="01000000000000000000" pitchFamily="2" charset="0"/>
              </a:rPr>
              <a:t>Signal Generator Parameters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MX" sz="2200" dirty="0" err="1"/>
              <a:t>Include</a:t>
            </a:r>
            <a:r>
              <a:rPr lang="es-MX" sz="2200" dirty="0"/>
              <a:t> </a:t>
            </a:r>
            <a:r>
              <a:rPr lang="es-MX" sz="2200" dirty="0" err="1"/>
              <a:t>parameters</a:t>
            </a:r>
            <a:r>
              <a:rPr lang="es-MX" sz="2200" dirty="0"/>
              <a:t> </a:t>
            </a:r>
            <a:r>
              <a:rPr lang="es-MX" sz="2200" dirty="0" err="1"/>
              <a:t>to</a:t>
            </a:r>
            <a:r>
              <a:rPr lang="es-MX" sz="2200" dirty="0"/>
              <a:t> </a:t>
            </a:r>
            <a:r>
              <a:rPr lang="es-MX" sz="2200" dirty="0" err="1"/>
              <a:t>modify</a:t>
            </a:r>
            <a:r>
              <a:rPr lang="es-MX" sz="2200" dirty="0"/>
              <a:t> </a:t>
            </a:r>
            <a:r>
              <a:rPr lang="es-MX" sz="2200" dirty="0" err="1"/>
              <a:t>the</a:t>
            </a:r>
            <a:r>
              <a:rPr lang="es-MX" sz="2200" dirty="0"/>
              <a:t> </a:t>
            </a:r>
            <a:r>
              <a:rPr lang="es-MX" sz="2200" dirty="0" err="1"/>
              <a:t>signal</a:t>
            </a:r>
            <a:r>
              <a:rPr lang="es-MX" sz="2200" dirty="0"/>
              <a:t> </a:t>
            </a:r>
            <a:r>
              <a:rPr lang="es-MX" sz="2200" dirty="0" err="1"/>
              <a:t>generator</a:t>
            </a:r>
            <a:r>
              <a:rPr lang="es-MX" sz="2200" dirty="0"/>
              <a:t> in run-time </a:t>
            </a:r>
            <a:r>
              <a:rPr lang="es-MX" sz="2200" dirty="0" err="1"/>
              <a:t>using</a:t>
            </a:r>
            <a:r>
              <a:rPr lang="es-MX" sz="2200" dirty="0"/>
              <a:t> </a:t>
            </a:r>
            <a:r>
              <a:rPr lang="es-MX" sz="2200" dirty="0" err="1"/>
              <a:t>the</a:t>
            </a:r>
            <a:r>
              <a:rPr lang="es-MX" sz="2200" dirty="0"/>
              <a:t> terminal.</a:t>
            </a:r>
            <a:endParaRPr lang="en-GB" sz="2200" dirty="0">
              <a:latin typeface="Consolas" panose="020B06090202040302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/>
              <a:t>The signal generator node parameters must be set in the launch file or as a config file (YAML).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200" dirty="0"/>
              <a:t>The user must be able to tune the parameter at runtime, and if a parameter is incorrect, the node must let the user know.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s-MX" sz="2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D0F1BA-62CD-2D6A-E344-3F0643811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 1 – Part 2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CB78B97-6575-34A4-A265-880BD7666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124898"/>
            <a:ext cx="5181600" cy="7736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425"/>
              </a:lnSpc>
            </a:pP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'amplitude'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		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#S</a:t>
            </a:r>
            <a:r>
              <a:rPr lang="es-MX" sz="11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ignal</a:t>
            </a:r>
            <a:r>
              <a:rPr lang="es-MX" sz="1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s-MX" sz="11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amplitude</a:t>
            </a:r>
            <a:endParaRPr lang="en-GB" sz="11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100" dirty="0">
                <a:solidFill>
                  <a:srgbClr val="CE9178"/>
                </a:solidFill>
                <a:latin typeface="Consolas" panose="020B0609020204030204" pitchFamily="49" charset="0"/>
              </a:rPr>
              <a:t>'frequency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2.16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		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#S</a:t>
            </a:r>
            <a:r>
              <a:rPr lang="es-MX" sz="11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ignal</a:t>
            </a:r>
            <a:r>
              <a:rPr lang="es-MX" sz="1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s-MX" sz="11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frequency</a:t>
            </a:r>
            <a:endParaRPr lang="en-GB" sz="11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100" dirty="0">
                <a:solidFill>
                  <a:srgbClr val="CE9178"/>
                </a:solidFill>
                <a:latin typeface="Consolas" panose="020B0609020204030204" pitchFamily="49" charset="0"/>
              </a:rPr>
              <a:t>'phase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		</a:t>
            </a:r>
            <a:r>
              <a:rPr lang="en-US" sz="11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s-MX" sz="11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ignal</a:t>
            </a:r>
            <a:r>
              <a:rPr lang="es-MX" sz="1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s-MX" sz="11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phase</a:t>
            </a:r>
            <a:endParaRPr lang="en-GB" sz="11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sz="1100" dirty="0">
                <a:solidFill>
                  <a:srgbClr val="CE9178"/>
                </a:solidFill>
                <a:latin typeface="Consolas" panose="020B0609020204030204" pitchFamily="49" charset="0"/>
              </a:rPr>
              <a:t>'offset</a:t>
            </a:r>
            <a:r>
              <a:rPr lang="en-GB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GB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GB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		</a:t>
            </a:r>
            <a:r>
              <a:rPr lang="en-US" sz="11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s-MX" sz="11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ignal</a:t>
            </a:r>
            <a:r>
              <a:rPr lang="es-MX" sz="11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offset</a:t>
            </a:r>
            <a:endParaRPr lang="en-GB" sz="11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C7B5B25-BF91-088E-8650-06905F74D059}"/>
              </a:ext>
            </a:extLst>
          </p:cNvPr>
          <p:cNvSpPr txBox="1"/>
          <p:nvPr/>
        </p:nvSpPr>
        <p:spPr>
          <a:xfrm>
            <a:off x="6676571" y="5102530"/>
            <a:ext cx="518160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Nexa-Light" panose="01000000000000000000" pitchFamily="2" charset="0"/>
                <a:ea typeface="+mn-ea"/>
                <a:cs typeface="+mn-cs"/>
              </a:rPr>
              <a:t>It is strictly forbidden to use any other python library, other than NumPy. The controller must be made without using any predefined online controllers.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DC59EBAB-84BE-A566-DD5D-5DBD8F5CF623}"/>
                  </a:ext>
                </a:extLst>
              </p:cNvPr>
              <p:cNvSpPr txBox="1"/>
              <p:nvPr/>
            </p:nvSpPr>
            <p:spPr>
              <a:xfrm>
                <a:off x="7096630" y="2673242"/>
                <a:ext cx="40114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s-MX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s-MX" sz="28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𝑤𝑡</m:t>
                              </m:r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MX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  <m: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MX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DC59EBAB-84BE-A566-DD5D-5DBD8F5CF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630" y="2673242"/>
                <a:ext cx="401148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90D30634-8E6F-0731-DCA5-216BD55C9ED4}"/>
              </a:ext>
            </a:extLst>
          </p:cNvPr>
          <p:cNvSpPr txBox="1">
            <a:spLocks/>
          </p:cNvSpPr>
          <p:nvPr/>
        </p:nvSpPr>
        <p:spPr>
          <a:xfrm>
            <a:off x="7579779" y="3877795"/>
            <a:ext cx="1534886" cy="49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600" dirty="0"/>
              <a:t>Frequency</a:t>
            </a:r>
          </a:p>
          <a:p>
            <a:pPr algn="ctr">
              <a:lnSpc>
                <a:spcPct val="150000"/>
              </a:lnSpc>
            </a:pPr>
            <a:endParaRPr lang="en-GB" sz="1600" dirty="0"/>
          </a:p>
        </p:txBody>
      </p:sp>
      <p:sp>
        <p:nvSpPr>
          <p:cNvPr id="27" name="Content Placeholder 1">
            <a:extLst>
              <a:ext uri="{FF2B5EF4-FFF2-40B4-BE49-F238E27FC236}">
                <a16:creationId xmlns:a16="http://schemas.microsoft.com/office/drawing/2014/main" id="{6B7C9BEE-1F22-B6E5-23E1-AFED8EC451A5}"/>
              </a:ext>
            </a:extLst>
          </p:cNvPr>
          <p:cNvSpPr txBox="1">
            <a:spLocks/>
          </p:cNvSpPr>
          <p:nvPr/>
        </p:nvSpPr>
        <p:spPr>
          <a:xfrm>
            <a:off x="6676571" y="3308911"/>
            <a:ext cx="1371601" cy="49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600" dirty="0"/>
              <a:t>Amplitude</a:t>
            </a:r>
          </a:p>
          <a:p>
            <a:pPr algn="ctr">
              <a:lnSpc>
                <a:spcPct val="150000"/>
              </a:lnSpc>
            </a:pPr>
            <a:endParaRPr lang="en-GB" sz="1600" dirty="0"/>
          </a:p>
        </p:txBody>
      </p:sp>
      <p:sp>
        <p:nvSpPr>
          <p:cNvPr id="28" name="Content Placeholder 1">
            <a:extLst>
              <a:ext uri="{FF2B5EF4-FFF2-40B4-BE49-F238E27FC236}">
                <a16:creationId xmlns:a16="http://schemas.microsoft.com/office/drawing/2014/main" id="{89DD19E1-01B2-5682-31AA-8CAB545C344F}"/>
              </a:ext>
            </a:extLst>
          </p:cNvPr>
          <p:cNvSpPr txBox="1">
            <a:spLocks/>
          </p:cNvSpPr>
          <p:nvPr/>
        </p:nvSpPr>
        <p:spPr>
          <a:xfrm>
            <a:off x="8790817" y="3484796"/>
            <a:ext cx="1534886" cy="49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600" dirty="0"/>
              <a:t>Phase</a:t>
            </a:r>
          </a:p>
          <a:p>
            <a:pPr algn="ctr">
              <a:lnSpc>
                <a:spcPct val="150000"/>
              </a:lnSpc>
            </a:pPr>
            <a:endParaRPr lang="en-GB" sz="1600" dirty="0"/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FE241E2D-6286-79E5-7E13-1C6EBB44180D}"/>
              </a:ext>
            </a:extLst>
          </p:cNvPr>
          <p:cNvSpPr txBox="1">
            <a:spLocks/>
          </p:cNvSpPr>
          <p:nvPr/>
        </p:nvSpPr>
        <p:spPr>
          <a:xfrm>
            <a:off x="9974542" y="3748521"/>
            <a:ext cx="1534886" cy="492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Nexa-Light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GB" sz="1600" dirty="0"/>
              <a:t>Offset</a:t>
            </a:r>
          </a:p>
          <a:p>
            <a:pPr algn="ctr">
              <a:lnSpc>
                <a:spcPct val="150000"/>
              </a:lnSpc>
            </a:pPr>
            <a:endParaRPr lang="en-GB" sz="1600" dirty="0"/>
          </a:p>
        </p:txBody>
      </p:sp>
      <p:cxnSp>
        <p:nvCxnSpPr>
          <p:cNvPr id="30" name="Conector: curvado 29">
            <a:extLst>
              <a:ext uri="{FF2B5EF4-FFF2-40B4-BE49-F238E27FC236}">
                <a16:creationId xmlns:a16="http://schemas.microsoft.com/office/drawing/2014/main" id="{86F15B3C-ACEC-F6E5-2C73-52370F587B76}"/>
              </a:ext>
            </a:extLst>
          </p:cNvPr>
          <p:cNvCxnSpPr>
            <a:cxnSpLocks/>
            <a:stCxn id="27" idx="3"/>
            <a:endCxn id="31" idx="4"/>
          </p:cNvCxnSpPr>
          <p:nvPr/>
        </p:nvCxnSpPr>
        <p:spPr>
          <a:xfrm flipV="1">
            <a:off x="8048172" y="3092279"/>
            <a:ext cx="326363" cy="462854"/>
          </a:xfrm>
          <a:prstGeom prst="curvedConnector2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>
            <a:extLst>
              <a:ext uri="{FF2B5EF4-FFF2-40B4-BE49-F238E27FC236}">
                <a16:creationId xmlns:a16="http://schemas.microsoft.com/office/drawing/2014/main" id="{35A9E943-FDF1-04D7-F6B6-2D880CD24FD8}"/>
              </a:ext>
            </a:extLst>
          </p:cNvPr>
          <p:cNvSpPr/>
          <p:nvPr/>
        </p:nvSpPr>
        <p:spPr>
          <a:xfrm>
            <a:off x="8320560" y="2989319"/>
            <a:ext cx="107950" cy="1029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844F6900-FFDE-0B77-4911-7C0543B743E0}"/>
              </a:ext>
            </a:extLst>
          </p:cNvPr>
          <p:cNvSpPr/>
          <p:nvPr/>
        </p:nvSpPr>
        <p:spPr>
          <a:xfrm>
            <a:off x="9189242" y="3027539"/>
            <a:ext cx="107950" cy="1029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3A06BE10-D257-DDCC-A964-DDB57496F568}"/>
              </a:ext>
            </a:extLst>
          </p:cNvPr>
          <p:cNvSpPr/>
          <p:nvPr/>
        </p:nvSpPr>
        <p:spPr>
          <a:xfrm>
            <a:off x="10029534" y="3008293"/>
            <a:ext cx="107950" cy="1029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2E01F288-5995-8F9C-5191-1843C1C632C4}"/>
              </a:ext>
            </a:extLst>
          </p:cNvPr>
          <p:cNvSpPr/>
          <p:nvPr/>
        </p:nvSpPr>
        <p:spPr>
          <a:xfrm>
            <a:off x="10869826" y="2956812"/>
            <a:ext cx="107950" cy="10296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/>
          </a:p>
        </p:txBody>
      </p:sp>
      <p:cxnSp>
        <p:nvCxnSpPr>
          <p:cNvPr id="35" name="Conector: curvado 34">
            <a:extLst>
              <a:ext uri="{FF2B5EF4-FFF2-40B4-BE49-F238E27FC236}">
                <a16:creationId xmlns:a16="http://schemas.microsoft.com/office/drawing/2014/main" id="{C650192A-3E2B-C552-85B0-FCA18A2B0803}"/>
              </a:ext>
            </a:extLst>
          </p:cNvPr>
          <p:cNvCxnSpPr>
            <a:cxnSpLocks/>
            <a:stCxn id="26" idx="0"/>
            <a:endCxn id="32" idx="4"/>
          </p:cNvCxnSpPr>
          <p:nvPr/>
        </p:nvCxnSpPr>
        <p:spPr>
          <a:xfrm rot="5400000" flipH="1" flipV="1">
            <a:off x="8421571" y="3056150"/>
            <a:ext cx="747296" cy="895995"/>
          </a:xfrm>
          <a:prstGeom prst="curved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curvado 35">
            <a:extLst>
              <a:ext uri="{FF2B5EF4-FFF2-40B4-BE49-F238E27FC236}">
                <a16:creationId xmlns:a16="http://schemas.microsoft.com/office/drawing/2014/main" id="{FD2B2EDA-6832-B736-E577-0B7AF46278CD}"/>
              </a:ext>
            </a:extLst>
          </p:cNvPr>
          <p:cNvCxnSpPr>
            <a:cxnSpLocks/>
            <a:stCxn id="28" idx="0"/>
            <a:endCxn id="33" idx="4"/>
          </p:cNvCxnSpPr>
          <p:nvPr/>
        </p:nvCxnSpPr>
        <p:spPr>
          <a:xfrm rot="5400000" flipH="1" flipV="1">
            <a:off x="9634113" y="3035401"/>
            <a:ext cx="373543" cy="525249"/>
          </a:xfrm>
          <a:prstGeom prst="curved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ado 36">
            <a:extLst>
              <a:ext uri="{FF2B5EF4-FFF2-40B4-BE49-F238E27FC236}">
                <a16:creationId xmlns:a16="http://schemas.microsoft.com/office/drawing/2014/main" id="{D433ACA5-1C2E-BF4C-1010-2698FC258DDB}"/>
              </a:ext>
            </a:extLst>
          </p:cNvPr>
          <p:cNvCxnSpPr>
            <a:cxnSpLocks/>
            <a:stCxn id="29" idx="3"/>
            <a:endCxn id="34" idx="4"/>
          </p:cNvCxnSpPr>
          <p:nvPr/>
        </p:nvCxnSpPr>
        <p:spPr>
          <a:xfrm flipH="1" flipV="1">
            <a:off x="10923801" y="3059772"/>
            <a:ext cx="585627" cy="934971"/>
          </a:xfrm>
          <a:prstGeom prst="curvedConnector4">
            <a:avLst>
              <a:gd name="adj1" fmla="val -39035"/>
              <a:gd name="adj2" fmla="val 63167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499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620AE8E-8767-C555-2D23-F792DAD7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51542-C980-BEAE-5D84-CF98B0737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This is a challenge </a:t>
            </a:r>
            <a:r>
              <a:rPr lang="en-GB" sz="1200" b="1" dirty="0"/>
              <a:t>not</a:t>
            </a:r>
            <a:r>
              <a:rPr lang="en-GB" sz="1200" dirty="0"/>
              <a:t> a class. The students are encouraged to research, improve tune explain their algorithms by themselves.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MCR2(Manchester Robotics) Reserves the right to answer a question if it is determined that the question contains partially or totally an answer.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The students are welcome to ask only about the theoretical aspect of the class.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No remote control or any other form of human interaction with the simulator or ROS is allowed (except at the start when launching the files).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It is </a:t>
            </a:r>
            <a:r>
              <a:rPr lang="en-GB" sz="1200" b="1" dirty="0"/>
              <a:t>forbidden</a:t>
            </a:r>
            <a:r>
              <a:rPr lang="en-GB" sz="1200" dirty="0"/>
              <a:t> to use any other internet libraries with the exception of standard libraries or NumPy.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If in doubt about libraries please ask any teaching assistant.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Improvements to the algorithms are encouraged and may be used as long as the students provide the reasons and a detailed explanation on the improvements.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All the students must respect each other and abide by the previously defined rules.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Manchester Robotics reserves the right to provide any form of grading. Grading and grading methodology are done by the professor in charge of the unit.</a:t>
            </a:r>
          </a:p>
        </p:txBody>
      </p:sp>
    </p:spTree>
    <p:extLst>
      <p:ext uri="{BB962C8B-B14F-4D97-AF65-F5344CB8AC3E}">
        <p14:creationId xmlns:p14="http://schemas.microsoft.com/office/powerpoint/2010/main" val="3260189706"/>
      </p:ext>
    </p:extLst>
  </p:cSld>
  <p:clrMapOvr>
    <a:masterClrMapping/>
  </p:clrMapOvr>
</p:sld>
</file>

<file path=ppt/theme/theme1.xml><?xml version="1.0" encoding="utf-8"?>
<a:theme xmlns:a="http://schemas.openxmlformats.org/drawingml/2006/main" name="MCR2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1032</Words>
  <Application>Microsoft Office PowerPoint</Application>
  <PresentationFormat>Panorámica</PresentationFormat>
  <Paragraphs>90</Paragraphs>
  <Slides>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Consolas</vt:lpstr>
      <vt:lpstr>Nexa Bold</vt:lpstr>
      <vt:lpstr>Nexa-Bold</vt:lpstr>
      <vt:lpstr>Nexa-Book</vt:lpstr>
      <vt:lpstr>Nexa-Light</vt:lpstr>
      <vt:lpstr>MCR2 Theme</vt:lpstr>
      <vt:lpstr>Challenges</vt:lpstr>
      <vt:lpstr>Challenge 1</vt:lpstr>
      <vt:lpstr>Challenge 1</vt:lpstr>
      <vt:lpstr>Challenge 1 – Part 1</vt:lpstr>
      <vt:lpstr>Challenge 1 – Part 1</vt:lpstr>
      <vt:lpstr>Challenge 1 – Part 1 (expected results)</vt:lpstr>
      <vt:lpstr>Challenge 1 – Part 2</vt:lpstr>
      <vt:lpstr>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 Martinez</dc:creator>
  <cp:lastModifiedBy>Carmen Lucía Zazueta Esquer</cp:lastModifiedBy>
  <cp:revision>8</cp:revision>
  <dcterms:created xsi:type="dcterms:W3CDTF">2022-11-10T18:38:46Z</dcterms:created>
  <dcterms:modified xsi:type="dcterms:W3CDTF">2026-09-17T20:15:16Z</dcterms:modified>
</cp:coreProperties>
</file>